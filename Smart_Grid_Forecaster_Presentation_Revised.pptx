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72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8" y="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45720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30B0C7"/>
                </a:solidFill>
                <a:latin typeface="Aptos"/>
              </a:rPr>
              <a:t>SMART GRID FORECASTER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07040" cy="132588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From historical grid behaviour
to an actionable 24-hour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88920"/>
            <a:ext cx="978408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E8EFF5"/>
                </a:solidFill>
                <a:latin typeface="Aptos"/>
              </a:rPr>
              <a:t>A multi-model forecasting system built for hourly national power-load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977639"/>
            <a:ext cx="1508760" cy="658368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1A5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169663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LOAD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13432" y="4306824"/>
            <a:ext cx="548640" cy="0"/>
          </a:xfrm>
          <a:prstGeom prst="line">
            <a:avLst/>
          </a:prstGeom>
          <a:ln w="2540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3977639"/>
            <a:ext cx="1508760" cy="658368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30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4169663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62272" y="4306824"/>
            <a:ext cx="548640" cy="0"/>
          </a:xfrm>
          <a:prstGeom prst="line">
            <a:avLst/>
          </a:prstGeom>
          <a:ln w="2540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3977639"/>
            <a:ext cx="1508760" cy="658368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2B8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4169663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MODELS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11112" y="4306824"/>
            <a:ext cx="548640" cy="0"/>
          </a:xfrm>
          <a:prstGeom prst="line">
            <a:avLst/>
          </a:prstGeom>
          <a:ln w="2540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23760" y="3977639"/>
            <a:ext cx="1508760" cy="658368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E2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0" y="4169663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ENSEMBLE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59952" y="4306824"/>
            <a:ext cx="548640" cy="0"/>
          </a:xfrm>
          <a:prstGeom prst="line">
            <a:avLst/>
          </a:prstGeom>
          <a:ln w="2540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72600" y="3977639"/>
            <a:ext cx="1508760" cy="658368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C5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4169663"/>
            <a:ext cx="1508760" cy="22860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24H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806440"/>
            <a:ext cx="10424160" cy="32004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6F8194"/>
                </a:solidFill>
                <a:latin typeface="Aptos"/>
              </a:rPr>
              <a:t>Final project presentation • Smart grid load forecasting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Forecasting demand means modelling several signals at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National power demand changes as daily behaviour, weather and calendar effects interact.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4983480" cy="841248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1A5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554480" cy="22860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1A5EAC"/>
                </a:solidFill>
                <a:latin typeface="Aptos"/>
              </a:rPr>
              <a:t>Hourly rhythm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536192"/>
            <a:ext cx="2971800" cy="43891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Demand rises and falls within a 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32888"/>
            <a:ext cx="4983480" cy="841248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30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554480" cy="22860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30B0C7"/>
                </a:solidFill>
                <a:latin typeface="Aptos"/>
              </a:rPr>
              <a:t>Weekly behaviour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651760"/>
            <a:ext cx="2971800" cy="43891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Weekdays and weekends behave differently.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48456"/>
            <a:ext cx="4983480" cy="841248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2B8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67328"/>
            <a:ext cx="1554480" cy="22860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2B8F66"/>
                </a:solidFill>
                <a:latin typeface="Aptos"/>
              </a:rPr>
              <a:t>Weather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767328"/>
            <a:ext cx="2971800" cy="43891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Temperature and humidity shift usage.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764024"/>
            <a:ext cx="4983480" cy="841248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E2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882896"/>
            <a:ext cx="1554480" cy="22860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300" b="1" dirty="0">
                <a:solidFill>
                  <a:srgbClr val="E28A33"/>
                </a:solidFill>
                <a:latin typeface="Aptos"/>
              </a:rPr>
              <a:t>Calendar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882896"/>
            <a:ext cx="2971800" cy="43891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UK bank and public holidays can alter normal load.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4754880" cy="3657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Forecasting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5384800" cy="138191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0" dirty="0">
                <a:solidFill>
                  <a:srgbClr val="E8EFF5"/>
                </a:solidFill>
                <a:latin typeface="Aptos"/>
              </a:rPr>
              <a:t>A useful forecaster must learn recurring patterns, react to context, and remain reliable when conditions shift.
That is why this project does not depend on a single forecasting method.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983480"/>
            <a:ext cx="2011680" cy="310896"/>
          </a:xfrm>
          <a:prstGeom prst="roundRect">
            <a:avLst/>
          </a:prstGeom>
          <a:solidFill>
            <a:srgbClr val="1A5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5015484"/>
            <a:ext cx="1920240" cy="219456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MULTI-SIGNAL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4983480"/>
            <a:ext cx="2011680" cy="310896"/>
          </a:xfrm>
          <a:prstGeom prst="roundRect">
            <a:avLst/>
          </a:prstGeom>
          <a:solidFill>
            <a:srgbClr val="2B8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5015484"/>
            <a:ext cx="1920240" cy="219456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MULTI-MODEL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End-to-end forecasting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The system converts raw demand and context data into a validated 24-hour forecast.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50876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1A5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563624"/>
            <a:ext cx="384048" cy="38404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1A5EA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545336"/>
            <a:ext cx="246888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965960"/>
            <a:ext cx="2487168" cy="5943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Grid load + weather + holiday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29000" cy="150876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30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1563624"/>
            <a:ext cx="384048" cy="38404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30B0C7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1545336"/>
            <a:ext cx="246888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1965960"/>
            <a:ext cx="2082292" cy="41242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 dirty="0">
                <a:solidFill>
                  <a:srgbClr val="E8EFF5"/>
                </a:solidFill>
                <a:latin typeface="Aptos"/>
              </a:rPr>
              <a:t>Lags, rolling statistics, time/calendar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429000" cy="150876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2B8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1563624"/>
            <a:ext cx="384048" cy="38404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2B8F6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1545336"/>
            <a:ext cx="246888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2980" y="1979676"/>
            <a:ext cx="2487168" cy="5943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 dirty="0" err="1">
                <a:solidFill>
                  <a:srgbClr val="E8EFF5"/>
                </a:solidFill>
                <a:latin typeface="Aptos"/>
              </a:rPr>
              <a:t>XGBoost</a:t>
            </a:r>
            <a:r>
              <a:rPr sz="1100" b="0" dirty="0">
                <a:solidFill>
                  <a:srgbClr val="E8EFF5"/>
                </a:solidFill>
                <a:latin typeface="Aptos"/>
              </a:rPr>
              <a:t> + Prophet + neural sequence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83280"/>
            <a:ext cx="3429000" cy="150876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E2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3529584"/>
            <a:ext cx="384048" cy="38404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E28A33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511296"/>
            <a:ext cx="246888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931920"/>
            <a:ext cx="2487168" cy="5943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Time-aware expanding-window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383280"/>
            <a:ext cx="3429000" cy="150876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C5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9432" y="3529584"/>
            <a:ext cx="384048" cy="38404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C54646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3511296"/>
            <a:ext cx="246888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Combine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8" y="3931920"/>
            <a:ext cx="2487168" cy="5943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Blend models using validation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383280"/>
            <a:ext cx="3429000" cy="150876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1A5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3529584"/>
            <a:ext cx="384048" cy="38404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1A5EAC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3511296"/>
            <a:ext cx="246888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Forecast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3931920"/>
            <a:ext cx="2487168" cy="5943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Generate the next 24 hourly load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Forecast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Each forecast uses historical demand, weather, calendar structure and holiday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697480"/>
            <a:ext cx="2560320" cy="123444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30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83480" y="2907792"/>
            <a:ext cx="210312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FORECAST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3291840"/>
            <a:ext cx="2103120" cy="29260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300" b="1">
                <a:solidFill>
                  <a:srgbClr val="30B0C7"/>
                </a:solidFill>
                <a:latin typeface="Aptos"/>
              </a:rPr>
              <a:t>hour t → t+24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926080" cy="109728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1A5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63624"/>
            <a:ext cx="256032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1A5EAC"/>
                </a:solidFill>
                <a:latin typeface="Aptos"/>
              </a:rPr>
              <a:t>Historical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2560320" cy="41148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000" b="0">
                <a:solidFill>
                  <a:srgbClr val="E8EFF5"/>
                </a:solidFill>
                <a:latin typeface="Aptos"/>
              </a:rPr>
              <a:t>Recent hourly demand and repeating cycles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11880" y="1965960"/>
            <a:ext cx="1097280" cy="1344168"/>
          </a:xfrm>
          <a:prstGeom prst="line">
            <a:avLst/>
          </a:prstGeom>
          <a:ln w="190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4343400"/>
            <a:ext cx="2926080" cy="109728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2B8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489704"/>
            <a:ext cx="256032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2B8F66"/>
                </a:solidFill>
                <a:latin typeface="Aptos"/>
              </a:rPr>
              <a:t>Weather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2560320" cy="41148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000" b="0">
                <a:solidFill>
                  <a:srgbClr val="E8EFF5"/>
                </a:solidFill>
                <a:latin typeface="Aptos"/>
              </a:rPr>
              <a:t>Temperature / humidity / precipitation context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611880" y="3310128"/>
            <a:ext cx="1097280" cy="1581912"/>
          </a:xfrm>
          <a:prstGeom prst="line">
            <a:avLst/>
          </a:prstGeom>
          <a:ln w="190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49640" y="1417320"/>
            <a:ext cx="2926080" cy="109728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E2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19" y="1563624"/>
            <a:ext cx="256032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E28A33"/>
                </a:solidFill>
                <a:latin typeface="Aptos"/>
              </a:rPr>
              <a:t>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19" y="1920240"/>
            <a:ext cx="2560320" cy="41148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000" b="0">
                <a:solidFill>
                  <a:srgbClr val="E8EFF5"/>
                </a:solidFill>
                <a:latin typeface="Aptos"/>
              </a:rPr>
              <a:t>Hour, weekday, month and seasonal timing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360920" y="1965960"/>
            <a:ext cx="1188720" cy="1344168"/>
          </a:xfrm>
          <a:prstGeom prst="line">
            <a:avLst/>
          </a:prstGeom>
          <a:ln w="190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49640" y="4343400"/>
            <a:ext cx="2926080" cy="109728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C5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32519" y="4489704"/>
            <a:ext cx="256032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C54646"/>
                </a:solidFill>
                <a:latin typeface="Aptos"/>
              </a:rPr>
              <a:t>Holidays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19" y="4846320"/>
            <a:ext cx="2560320" cy="41148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000" b="0">
                <a:solidFill>
                  <a:srgbClr val="E8EFF5"/>
                </a:solidFill>
                <a:latin typeface="Aptos"/>
              </a:rPr>
              <a:t>England &amp; Wales and Scotland bank holiday effects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7360920" y="3310128"/>
            <a:ext cx="1188720" cy="1581912"/>
          </a:xfrm>
          <a:prstGeom prst="line">
            <a:avLst/>
          </a:prstGeom>
          <a:ln w="190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Feature engineering exposes demand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424160" cy="41148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E8EFF5"/>
                </a:solidFill>
                <a:latin typeface="Aptos"/>
              </a:rPr>
              <a:t>The pipeline transforms raw time series history into features that models can learn from consistently.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2514600" cy="306324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1A5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2286000"/>
            <a:ext cx="2176272" cy="34747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1A5EAC"/>
                </a:solidFill>
                <a:latin typeface="Aptos"/>
              </a:rPr>
              <a:t>Lag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880360"/>
            <a:ext cx="1986569" cy="504754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400" b="1" dirty="0">
                <a:solidFill>
                  <a:srgbClr val="F8FAFC"/>
                </a:solidFill>
                <a:latin typeface="Aptos"/>
              </a:rPr>
              <a:t>Previous hours such as </a:t>
            </a:r>
            <a:endParaRPr lang="en-US" sz="1400" b="1" dirty="0">
              <a:solidFill>
                <a:srgbClr val="F8FAFC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F8FAFC"/>
                </a:solidFill>
                <a:latin typeface="Aptos"/>
              </a:rPr>
              <a:t>t−1 … t−24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540" y="3977639"/>
            <a:ext cx="1902893" cy="412421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 dirty="0">
                <a:solidFill>
                  <a:srgbClr val="E8EFF5"/>
                </a:solidFill>
                <a:latin typeface="Aptos"/>
              </a:rPr>
              <a:t>Lets the model see immediate</a:t>
            </a:r>
            <a:endParaRPr lang="en-US" sz="1100" b="0" dirty="0">
              <a:solidFill>
                <a:srgbClr val="E8EFF5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E8EFF5"/>
                </a:solidFill>
                <a:latin typeface="Aptos"/>
              </a:rPr>
              <a:t> momentum.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2057400"/>
            <a:ext cx="2514600" cy="306324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30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66744" y="2286000"/>
            <a:ext cx="2176272" cy="34747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30B0C7"/>
                </a:solidFill>
                <a:latin typeface="Aptos"/>
              </a:rPr>
              <a:t>Rolling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6744" y="2880360"/>
            <a:ext cx="2176272" cy="6583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Recent averages / variation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3977639"/>
            <a:ext cx="2176272" cy="6583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Captures local trend and stability.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2057400"/>
            <a:ext cx="2514600" cy="306324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2B8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83096" y="2286000"/>
            <a:ext cx="2176272" cy="34747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2B8F66"/>
                </a:solidFill>
                <a:latin typeface="Aptos"/>
              </a:rPr>
              <a:t>Time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880360"/>
            <a:ext cx="2176272" cy="6583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Hour, weekday,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977639"/>
            <a:ext cx="2176272" cy="6583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Makes daily and weekly cycles explicit.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2057400"/>
            <a:ext cx="2514600" cy="306324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E2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99448" y="2286000"/>
            <a:ext cx="2176272" cy="34747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E28A33"/>
                </a:solidFill>
                <a:latin typeface="Aptos"/>
              </a:rPr>
              <a:t>Holiday flags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880360"/>
            <a:ext cx="2176272" cy="6583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Special-day indicators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3977639"/>
            <a:ext cx="2180212" cy="412421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 dirty="0">
                <a:solidFill>
                  <a:srgbClr val="E8EFF5"/>
                </a:solidFill>
                <a:latin typeface="Aptos"/>
              </a:rPr>
              <a:t>Prevents holidays being treated as </a:t>
            </a:r>
            <a:endParaRPr lang="en-US" sz="1100" b="0" dirty="0">
              <a:solidFill>
                <a:srgbClr val="E8EFF5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E8EFF5"/>
                </a:solidFill>
                <a:latin typeface="Aptos"/>
              </a:rPr>
              <a:t>ordinary weekdays.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Model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The system uses complementary model families so different demand patterns can be represented effectively.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57240" cy="324612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1A5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810512"/>
            <a:ext cx="2054904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1A5EAC"/>
                </a:solidFill>
                <a:latin typeface="Aptos"/>
              </a:rPr>
              <a:t>XGBoost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23160"/>
            <a:ext cx="2054904" cy="43891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Non-linear feature interactions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154680"/>
            <a:ext cx="2054904" cy="70000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/>
            <a:r>
              <a:rPr sz="1000" b="0" dirty="0">
                <a:solidFill>
                  <a:srgbClr val="E8EFF5"/>
                </a:solidFill>
                <a:latin typeface="Aptos"/>
              </a:rPr>
              <a:t>Strong with engineered lag, weather and calendar variables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8760" y="1554480"/>
            <a:ext cx="2457240" cy="324612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30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89928" y="1810512"/>
            <a:ext cx="2054904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30B0C7"/>
                </a:solidFill>
                <a:latin typeface="Aptos"/>
              </a:rPr>
              <a:t>Prophet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9928" y="2423160"/>
            <a:ext cx="2054904" cy="43891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Structured seasonality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9928" y="3154680"/>
            <a:ext cx="2054904" cy="70000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/>
            <a:r>
              <a:rPr sz="1000" b="0" dirty="0">
                <a:solidFill>
                  <a:srgbClr val="E8EFF5"/>
                </a:solidFill>
                <a:latin typeface="Aptos"/>
              </a:rPr>
              <a:t>Explicit daily / weekly patterns and holiday effects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6000" y="1554480"/>
            <a:ext cx="2457240" cy="324612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C5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7168" y="1810512"/>
            <a:ext cx="2054904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C54646"/>
                </a:solidFill>
                <a:latin typeface="Aptos"/>
              </a:rPr>
              <a:t>SARIMAX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7168" y="2423160"/>
            <a:ext cx="2054904" cy="43891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Statistical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7168" y="3154680"/>
            <a:ext cx="2054904" cy="70000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/>
            <a:r>
              <a:rPr sz="1000" b="0" dirty="0">
                <a:solidFill>
                  <a:srgbClr val="E8EFF5"/>
                </a:solidFill>
                <a:latin typeface="Aptos"/>
              </a:rPr>
              <a:t>Interpretable benchmark using exogenous weather inputs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3240" y="1554480"/>
            <a:ext cx="2457240" cy="324612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2B8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04408" y="1810512"/>
            <a:ext cx="2054904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2B8F66"/>
                </a:solidFill>
                <a:latin typeface="Aptos"/>
              </a:rPr>
              <a:t>DNN / LSTM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4408" y="2423160"/>
            <a:ext cx="2054904" cy="43891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Complex temporal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4408" y="3154680"/>
            <a:ext cx="2054904" cy="70000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/>
            <a:r>
              <a:rPr sz="1000" b="0" dirty="0">
                <a:solidFill>
                  <a:srgbClr val="E8EFF5"/>
                </a:solidFill>
                <a:latin typeface="Aptos"/>
              </a:rPr>
              <a:t>Learns flexible relationships and sequence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50000"/>
            <a:ext cx="10728960" cy="50000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The ensemble uses this diversity instead of depending on a single modelling assumption.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Evidence-weighted ensembling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468880" cy="224028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1A5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176272"/>
            <a:ext cx="2194560" cy="41148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500" b="1">
                <a:solidFill>
                  <a:srgbClr val="1A5EAC"/>
                </a:solidFill>
                <a:latin typeface="Aptos"/>
              </a:rPr>
              <a:t>Candidate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103120" cy="6583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8EFF5"/>
                </a:solidFill>
                <a:latin typeface="Aptos"/>
              </a:rPr>
              <a:t>Train independently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27248" y="3035808"/>
            <a:ext cx="274320" cy="0"/>
          </a:xfrm>
          <a:prstGeom prst="line">
            <a:avLst/>
          </a:prstGeom>
          <a:ln w="2540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93008" y="1920240"/>
            <a:ext cx="2468880" cy="224028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30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0168" y="2176272"/>
            <a:ext cx="2194560" cy="41148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500" b="1">
                <a:solidFill>
                  <a:srgbClr val="30B0C7"/>
                </a:solidFill>
                <a:latin typeface="Aptos"/>
              </a:rPr>
              <a:t>Time-aware 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8" y="2971800"/>
            <a:ext cx="2103120" cy="6583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8EFF5"/>
                </a:solidFill>
                <a:latin typeface="Aptos"/>
              </a:rPr>
              <a:t>Compare on unseen future windows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0176" y="3035808"/>
            <a:ext cx="274320" cy="0"/>
          </a:xfrm>
          <a:prstGeom prst="line">
            <a:avLst/>
          </a:prstGeom>
          <a:ln w="2540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45936" y="1920240"/>
            <a:ext cx="2468880" cy="224028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2B8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3096" y="2176272"/>
            <a:ext cx="2194560" cy="41148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500" b="1">
                <a:solidFill>
                  <a:srgbClr val="2B8F66"/>
                </a:solidFill>
                <a:latin typeface="Aptos"/>
              </a:rPr>
              <a:t>Rank by 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971800"/>
            <a:ext cx="2103120" cy="6583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8EFF5"/>
                </a:solidFill>
                <a:latin typeface="Aptos"/>
              </a:rPr>
              <a:t>Lower error gives stronger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33104" y="3035808"/>
            <a:ext cx="274320" cy="0"/>
          </a:xfrm>
          <a:prstGeom prst="line">
            <a:avLst/>
          </a:prstGeom>
          <a:ln w="2540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98863" y="1920240"/>
            <a:ext cx="2468880" cy="224028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E2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36024" y="2176272"/>
            <a:ext cx="2194560" cy="41148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500" b="1">
                <a:solidFill>
                  <a:srgbClr val="E28A33"/>
                </a:solidFill>
                <a:latin typeface="Aptos"/>
              </a:rPr>
              <a:t>Weighted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743" y="2971800"/>
            <a:ext cx="2103120" cy="6583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8EFF5"/>
                </a:solidFill>
                <a:latin typeface="Aptos"/>
              </a:rPr>
              <a:t>Top models receive inverse-error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6446" y="4938070"/>
            <a:ext cx="11427460" cy="56630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600" b="1" dirty="0">
                <a:solidFill>
                  <a:srgbClr val="F8FAFC"/>
                </a:solidFill>
                <a:latin typeface="Aptos"/>
              </a:rPr>
              <a:t>Instead of equal averaging, the final forecast gives more influence to models that performed better during validation.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Time-aware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The validation design respects time order so models are always tested on future periods.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3657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800" b="1">
                <a:solidFill>
                  <a:srgbClr val="30B0C7"/>
                </a:solidFill>
                <a:latin typeface="Aptos"/>
              </a:rPr>
              <a:t>Expanding-window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331720" cy="502920"/>
          </a:xfrm>
          <a:prstGeom prst="roundRect">
            <a:avLst/>
          </a:prstGeom>
          <a:solidFill>
            <a:srgbClr val="1B4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267712"/>
            <a:ext cx="233172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TRAIN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2148840"/>
            <a:ext cx="457200" cy="502920"/>
          </a:xfrm>
          <a:prstGeom prst="roundRect">
            <a:avLst/>
          </a:prstGeom>
          <a:solidFill>
            <a:srgbClr val="30B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97479" y="2267712"/>
            <a:ext cx="45720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0A1C34"/>
                </a:solidFill>
                <a:latin typeface="Aptos"/>
              </a:rP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2331720" cy="25603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8EFF5"/>
                </a:solidFill>
                <a:latin typeface="Aptos"/>
              </a:rPr>
              <a:t>Fold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148840"/>
            <a:ext cx="2331720" cy="502920"/>
          </a:xfrm>
          <a:prstGeom prst="roundRect">
            <a:avLst/>
          </a:prstGeom>
          <a:solidFill>
            <a:srgbClr val="1B4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2267712"/>
            <a:ext cx="233172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TRAIN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148840"/>
            <a:ext cx="457200" cy="502920"/>
          </a:xfrm>
          <a:prstGeom prst="roundRect">
            <a:avLst/>
          </a:prstGeom>
          <a:solidFill>
            <a:srgbClr val="2B8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0" y="2267712"/>
            <a:ext cx="45720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0A1C34"/>
                </a:solidFill>
                <a:latin typeface="Aptos"/>
              </a:rP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788920"/>
            <a:ext cx="2331720" cy="25603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8EFF5"/>
                </a:solidFill>
                <a:latin typeface="Aptos"/>
              </a:rPr>
              <a:t>Fold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48840"/>
            <a:ext cx="2331720" cy="502920"/>
          </a:xfrm>
          <a:prstGeom prst="roundRect">
            <a:avLst/>
          </a:prstGeom>
          <a:solidFill>
            <a:srgbClr val="1B4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2267712"/>
            <a:ext cx="233172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TRAIN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148840"/>
            <a:ext cx="457200" cy="502920"/>
          </a:xfrm>
          <a:prstGeom prst="roundRect">
            <a:avLst/>
          </a:prstGeom>
          <a:solidFill>
            <a:srgbClr val="E28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2267712"/>
            <a:ext cx="45720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0A1C34"/>
                </a:solidFill>
                <a:latin typeface="Aptos"/>
              </a:rP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788920"/>
            <a:ext cx="2331720" cy="25603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8EFF5"/>
                </a:solidFill>
                <a:latin typeface="Aptos"/>
              </a:rPr>
              <a:t>Fold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148840"/>
            <a:ext cx="2331720" cy="502920"/>
          </a:xfrm>
          <a:prstGeom prst="roundRect">
            <a:avLst/>
          </a:prstGeom>
          <a:solidFill>
            <a:srgbClr val="1B4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15400" y="2267712"/>
            <a:ext cx="233172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TRAIN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89920" y="2148840"/>
            <a:ext cx="457200" cy="502920"/>
          </a:xfrm>
          <a:prstGeom prst="roundRect">
            <a:avLst/>
          </a:prstGeom>
          <a:solidFill>
            <a:srgbClr val="C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89920" y="2267712"/>
            <a:ext cx="45720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0A1C34"/>
                </a:solidFill>
                <a:latin typeface="Aptos"/>
              </a:rPr>
              <a:t>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788920"/>
            <a:ext cx="2331720" cy="25603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100" b="0">
                <a:solidFill>
                  <a:srgbClr val="E8EFF5"/>
                </a:solidFill>
                <a:latin typeface="Aptos"/>
              </a:rPr>
              <a:t>Fold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03320"/>
            <a:ext cx="10424160" cy="5943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Training grows forward in time → validation always occurs after the training period.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4663440"/>
            <a:ext cx="6309360" cy="77724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E2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08960" y="4892040"/>
            <a:ext cx="594360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700" b="1">
                <a:solidFill>
                  <a:srgbClr val="E28A33"/>
                </a:solidFill>
                <a:latin typeface="Aptos"/>
              </a:rPr>
              <a:t>Final holdout: June 1–30,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From validation results to ensemble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The final ensemble is built from the strongest models identified before the June holdout is evaluated.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108960" cy="3657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E8EFF5"/>
                </a:solidFill>
                <a:latin typeface="Aptos"/>
              </a:rPr>
              <a:t>Weighting principle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2926080" cy="96012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30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560320" cy="32004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weight ∝ 1 / validation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828800" cy="25603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Best CV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3246120"/>
            <a:ext cx="3474720" cy="292608"/>
          </a:xfrm>
          <a:prstGeom prst="roundRect">
            <a:avLst/>
          </a:prstGeom>
          <a:solidFill>
            <a:srgbClr val="1A5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828800" cy="25603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2nd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3931920"/>
            <a:ext cx="2560320" cy="292608"/>
          </a:xfrm>
          <a:prstGeom prst="roundRect">
            <a:avLst/>
          </a:prstGeom>
          <a:solidFill>
            <a:srgbClr val="30B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828800" cy="25603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3rd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4617720"/>
            <a:ext cx="1920240" cy="292608"/>
          </a:xfrm>
          <a:prstGeom prst="roundRect">
            <a:avLst/>
          </a:prstGeom>
          <a:solidFill>
            <a:srgbClr val="2B8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417320"/>
            <a:ext cx="4572000" cy="3657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Higher-confidence blend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57400"/>
            <a:ext cx="4480560" cy="26517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E8EFF5"/>
                </a:solidFill>
                <a:latin typeface="Aptos"/>
              </a:rPr>
              <a:t>• Stronger models contribute more
• Weak models cannot dominate the output
• Diversity is retained when it improves generalization
• Weighting is based on validation evidence, not intuition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2600" b="1" dirty="0">
                <a:solidFill>
                  <a:srgbClr val="F8FAFC"/>
                </a:solidFill>
                <a:latin typeface="Aptos"/>
              </a:rPr>
              <a:t>Cross-validation leaderboard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324612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1A5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810512"/>
            <a:ext cx="3017520" cy="38404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900" b="1">
                <a:solidFill>
                  <a:srgbClr val="1A5EAC"/>
                </a:solidFill>
                <a:latin typeface="Aptos"/>
              </a:rPr>
              <a:t>XGBoost — Rank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23160"/>
            <a:ext cx="3017520" cy="43891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MAE 834.81 · RMSE 1111.55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154680"/>
            <a:ext cx="3068276" cy="412421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 dirty="0">
                <a:solidFill>
                  <a:srgbClr val="E8EFF5"/>
                </a:solidFill>
                <a:latin typeface="Aptos"/>
              </a:rPr>
              <a:t>MAPE 3.24% · R² 0.93</a:t>
            </a:r>
            <a:endParaRPr lang="en-US" sz="1100" b="0" dirty="0">
              <a:solidFill>
                <a:srgbClr val="E8EFF5"/>
              </a:solidFill>
              <a:latin typeface="Aptos"/>
            </a:endParaRPr>
          </a:p>
          <a:p>
            <a:pPr algn="l"/>
            <a:endParaRPr lang="en-US" sz="1100" b="0" dirty="0">
              <a:solidFill>
                <a:srgbClr val="E8EFF5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26280" y="1554480"/>
            <a:ext cx="3429000" cy="324612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30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1810512"/>
            <a:ext cx="3017520" cy="38404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900" b="1">
                <a:solidFill>
                  <a:srgbClr val="30B0C7"/>
                </a:solidFill>
                <a:latin typeface="Aptos"/>
              </a:rPr>
              <a:t>Prophet tuned — Rank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423160"/>
            <a:ext cx="3017520" cy="43891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MAE 1138.73 · RMSE 1508.89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3154680"/>
            <a:ext cx="3017520" cy="10515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MAPE 4.48% · R² 0.87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3429000" cy="324612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2B8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22208" y="1810512"/>
            <a:ext cx="3017520" cy="38404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900" b="1">
                <a:solidFill>
                  <a:srgbClr val="2B8F66"/>
                </a:solidFill>
                <a:latin typeface="Aptos"/>
              </a:rPr>
              <a:t>SARIMAX — Rank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423160"/>
            <a:ext cx="3017520" cy="438912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MAE 1583.35 · RMSE 2088.57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3154680"/>
            <a:ext cx="2699585" cy="412421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 dirty="0">
                <a:solidFill>
                  <a:srgbClr val="E8EFF5"/>
                </a:solidFill>
                <a:latin typeface="Aptos"/>
              </a:rPr>
              <a:t>MAPE 6.11% · R² 0.75</a:t>
            </a:r>
            <a:endParaRPr lang="en-US" sz="1100" b="0" dirty="0">
              <a:solidFill>
                <a:srgbClr val="E8EFF5"/>
              </a:solidFill>
              <a:latin typeface="Aptos"/>
            </a:endParaRPr>
          </a:p>
          <a:p>
            <a:pPr algn="l"/>
            <a:endParaRPr sz="1100" b="0" dirty="0">
              <a:solidFill>
                <a:srgbClr val="E8EFF5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Independent holdout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June 2026 is reserved as an untouched final test month after model selection.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7315200" cy="914400"/>
          </a:xfrm>
          <a:prstGeom prst="roundRect">
            <a:avLst/>
          </a:prstGeom>
          <a:solidFill>
            <a:srgbClr val="1B466C"/>
          </a:solidFill>
          <a:ln w="12700">
            <a:solidFill>
              <a:srgbClr val="1A5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75688"/>
            <a:ext cx="6858000" cy="32004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Historical period used for training + cross-validation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828800"/>
            <a:ext cx="3154680" cy="914400"/>
          </a:xfrm>
          <a:prstGeom prst="roundRect">
            <a:avLst/>
          </a:prstGeom>
          <a:solidFill>
            <a:srgbClr val="4A301A"/>
          </a:solidFill>
          <a:ln w="12700">
            <a:solidFill>
              <a:srgbClr val="E2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075688"/>
            <a:ext cx="2788920" cy="32004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500" b="1">
                <a:solidFill>
                  <a:srgbClr val="E28A33"/>
                </a:solidFill>
                <a:latin typeface="Aptos"/>
              </a:rPr>
              <a:t>JUNE 2026 HOLDOUT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1014984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Model choice and ensemble weights are determined before the holdout is evaluated.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10149840" cy="8229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500" b="0">
                <a:solidFill>
                  <a:srgbClr val="E8EFF5"/>
                </a:solidFill>
                <a:latin typeface="Aptos"/>
              </a:rPr>
              <a:t>This makes the reported final performance more credible because the test month is not used to tune the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Project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The project is differentiated by contextual inputs, hybrid modelling and disciplined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68580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1A5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80744"/>
            <a:ext cx="196596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1A5EAC"/>
                </a:solidFill>
                <a:latin typeface="Aptos"/>
              </a:rPr>
              <a:t>Context-aware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80744"/>
            <a:ext cx="8046720" cy="29260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Load + weather + calendar + holiday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76272"/>
            <a:ext cx="10698480" cy="68580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30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22576"/>
            <a:ext cx="196596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30B0C7"/>
                </a:solidFill>
                <a:latin typeface="Aptos"/>
              </a:rPr>
              <a:t>Hybrid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322576"/>
            <a:ext cx="8046720" cy="29260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Tree, statistical and neural approaches in one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18104"/>
            <a:ext cx="10698480" cy="68580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2B8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264408"/>
            <a:ext cx="196596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2B8F66"/>
                </a:solidFill>
                <a:latin typeface="Aptos"/>
              </a:rPr>
              <a:t>Evidence-weighted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264408"/>
            <a:ext cx="8046720" cy="29260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Ensemble weights come from validation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59935"/>
            <a:ext cx="10698480" cy="68580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E2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206240"/>
            <a:ext cx="196596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E28A33"/>
                </a:solidFill>
                <a:latin typeface="Aptos"/>
              </a:rPr>
              <a:t>Leakage-conscious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206240"/>
            <a:ext cx="8046720" cy="29260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Expanding-window CV + untouched June holdout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01768"/>
            <a:ext cx="10698480" cy="68580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C5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148072"/>
            <a:ext cx="196596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C54646"/>
                </a:solidFill>
                <a:latin typeface="Aptos"/>
              </a:rPr>
              <a:t>Operational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148072"/>
            <a:ext cx="8046720" cy="29260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Designed to produce the next 24 hourly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Producing a 24-hour forecast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57400" cy="219456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1A5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2103120"/>
            <a:ext cx="1828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400" b="1">
                <a:solidFill>
                  <a:srgbClr val="1A5EAC"/>
                </a:solidFill>
                <a:latin typeface="Aptos"/>
              </a:rPr>
              <a:t>Latest known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783080" cy="64008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0">
                <a:solidFill>
                  <a:srgbClr val="E8EFF5"/>
                </a:solidFill>
                <a:latin typeface="Aptos"/>
              </a:rPr>
              <a:t>Use most recent load + context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87752" y="2907792"/>
            <a:ext cx="182880" cy="0"/>
          </a:xfrm>
          <a:prstGeom prst="line">
            <a:avLst/>
          </a:prstGeom>
          <a:ln w="190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34639" y="1828800"/>
            <a:ext cx="2057400" cy="219456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30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4368" y="2103120"/>
            <a:ext cx="1828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400" b="1">
                <a:solidFill>
                  <a:srgbClr val="30B0C7"/>
                </a:solidFill>
                <a:latin typeface="Aptos"/>
              </a:rPr>
              <a:t>Build future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39" y="2880360"/>
            <a:ext cx="1691639" cy="38164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0" dirty="0">
                <a:solidFill>
                  <a:srgbClr val="E8EFF5"/>
                </a:solidFill>
                <a:latin typeface="Aptos"/>
              </a:rPr>
              <a:t>Create the inputs required for upcoming hours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19471" y="2907792"/>
            <a:ext cx="182881" cy="0"/>
          </a:xfrm>
          <a:prstGeom prst="line">
            <a:avLst/>
          </a:prstGeom>
          <a:ln w="190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66359" y="1828800"/>
            <a:ext cx="2057400" cy="219456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2B8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2103120"/>
            <a:ext cx="1828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400" b="1">
                <a:solidFill>
                  <a:srgbClr val="2B8F66"/>
                </a:solidFill>
                <a:latin typeface="Aptos"/>
              </a:rPr>
              <a:t>Run selected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0700" y="2880360"/>
            <a:ext cx="1485900" cy="38164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0">
                <a:solidFill>
                  <a:srgbClr val="E8EFF5"/>
                </a:solidFill>
                <a:latin typeface="Aptos"/>
              </a:rPr>
              <a:t>Each model generates its own forecast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51192" y="2907792"/>
            <a:ext cx="182879" cy="0"/>
          </a:xfrm>
          <a:prstGeom prst="line">
            <a:avLst/>
          </a:prstGeom>
          <a:ln w="190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8079" y="1828800"/>
            <a:ext cx="2057400" cy="219456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E28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07807" y="2103120"/>
            <a:ext cx="1828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400" b="1">
                <a:solidFill>
                  <a:srgbClr val="E28A33"/>
                </a:solidFill>
                <a:latin typeface="Aptos"/>
              </a:rPr>
              <a:t>Apply ensemble weights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0" y="2880360"/>
            <a:ext cx="1709929" cy="38164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0" dirty="0">
                <a:solidFill>
                  <a:srgbClr val="E8EFF5"/>
                </a:solidFill>
                <a:latin typeface="Aptos"/>
              </a:rPr>
              <a:t>Combine predictions according to CV strength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82911" y="2907792"/>
            <a:ext cx="182881" cy="0"/>
          </a:xfrm>
          <a:prstGeom prst="line">
            <a:avLst/>
          </a:prstGeom>
          <a:ln w="19050">
            <a:solidFill>
              <a:srgbClr val="E8EF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29800" y="1828800"/>
            <a:ext cx="2057400" cy="219456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C5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39528" y="2103120"/>
            <a:ext cx="1828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400" b="1">
                <a:solidFill>
                  <a:srgbClr val="C54646"/>
                </a:solidFill>
                <a:latin typeface="Aptos"/>
              </a:rPr>
              <a:t>Return 24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880360"/>
            <a:ext cx="1783080" cy="64008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0" dirty="0">
                <a:solidFill>
                  <a:srgbClr val="E8EFF5"/>
                </a:solidFill>
                <a:latin typeface="Aptos"/>
              </a:rPr>
              <a:t>Hourly forecast for the next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800600"/>
            <a:ext cx="9966960" cy="64008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The result is an hourly next-day forecast that can be inspected, visualised and used by the application layer.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E8EFF5"/>
                </a:solidFill>
                <a:latin typeface="Aptos"/>
              </a:rPr>
              <a:t>The project contains the main data, modelling, evaluation and application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548640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Data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124712"/>
            <a:ext cx="2423160" cy="310896"/>
          </a:xfrm>
          <a:prstGeom prst="roundRect">
            <a:avLst/>
          </a:prstGeom>
          <a:solidFill>
            <a:srgbClr val="2B8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156716"/>
            <a:ext cx="2331720" cy="219456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37943"/>
            <a:ext cx="548640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Feature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819655"/>
            <a:ext cx="2423160" cy="310896"/>
          </a:xfrm>
          <a:prstGeom prst="roundRect">
            <a:avLst/>
          </a:prstGeom>
          <a:solidFill>
            <a:srgbClr val="2B8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851660"/>
            <a:ext cx="2331720" cy="219456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8"/>
            <a:ext cx="548640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XGBoost 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514600"/>
            <a:ext cx="2423160" cy="310896"/>
          </a:xfrm>
          <a:prstGeom prst="roundRect">
            <a:avLst/>
          </a:prstGeom>
          <a:solidFill>
            <a:srgbClr val="2B8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2546604"/>
            <a:ext cx="2331720" cy="219456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Implemented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27832"/>
            <a:ext cx="548640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Prophet tuning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209544"/>
            <a:ext cx="2423160" cy="310896"/>
          </a:xfrm>
          <a:prstGeom prst="roundRect">
            <a:avLst/>
          </a:prstGeom>
          <a:solidFill>
            <a:srgbClr val="2B8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35240" y="3241548"/>
            <a:ext cx="2331720" cy="219456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Implemented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22776"/>
            <a:ext cx="548640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DNN / LSTM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904488"/>
            <a:ext cx="2423160" cy="310896"/>
          </a:xfrm>
          <a:prstGeom prst="roundRect">
            <a:avLst/>
          </a:prstGeom>
          <a:solidFill>
            <a:srgbClr val="2B8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3936492"/>
            <a:ext cx="2331720" cy="219456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 dirty="0">
                <a:solidFill>
                  <a:srgbClr val="F8FAFC"/>
                </a:solidFill>
                <a:latin typeface="Aptos"/>
              </a:rPr>
              <a:t>Implemented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548640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Final ensemble + June holdout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12664"/>
            <a:ext cx="5486400" cy="2743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Repository cleanup / reproducibility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5294376"/>
            <a:ext cx="2423160" cy="310896"/>
          </a:xfrm>
          <a:prstGeom prst="roundRect">
            <a:avLst/>
          </a:prstGeom>
          <a:solidFill>
            <a:srgbClr val="E28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35240" y="5326380"/>
            <a:ext cx="2331720" cy="219456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Completed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50280"/>
            <a:ext cx="10424160" cy="52000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/>
            <a:r>
              <a:rPr sz="1000" b="0">
                <a:solidFill>
                  <a:srgbClr val="6F8194"/>
                </a:solidFill>
                <a:latin typeface="Aptos"/>
              </a:rPr>
              <a:t>The remaining focus is reproducibility, final result exports and demo readiness.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14</a:t>
            </a:r>
          </a:p>
        </p:txBody>
      </p:sp>
      <p:sp>
        <p:nvSpPr>
          <p:cNvPr id="33" name="Rounded Rectangle 23">
            <a:extLst>
              <a:ext uri="{FF2B5EF4-FFF2-40B4-BE49-F238E27FC236}">
                <a16:creationId xmlns:a16="http://schemas.microsoft.com/office/drawing/2014/main" id="{B8C1913B-2DE9-4FB6-B81C-3ECCF8B6A303}"/>
              </a:ext>
            </a:extLst>
          </p:cNvPr>
          <p:cNvSpPr/>
          <p:nvPr/>
        </p:nvSpPr>
        <p:spPr>
          <a:xfrm>
            <a:off x="7589520" y="4585716"/>
            <a:ext cx="2423160" cy="310896"/>
          </a:xfrm>
          <a:prstGeom prst="roundRect">
            <a:avLst/>
          </a:prstGeom>
          <a:solidFill>
            <a:srgbClr val="E28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3EF369-89D8-60BA-FF13-40204786A63B}"/>
              </a:ext>
            </a:extLst>
          </p:cNvPr>
          <p:cNvSpPr txBox="1"/>
          <p:nvPr/>
        </p:nvSpPr>
        <p:spPr>
          <a:xfrm>
            <a:off x="7635240" y="4617720"/>
            <a:ext cx="2331720" cy="219456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Final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Team contribution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390276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1A5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730512"/>
            <a:ext cx="30175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1A5EAC"/>
                </a:solidFill>
                <a:latin typeface="Aptos"/>
              </a:rPr>
              <a:t>Amana M. F. 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85512"/>
            <a:ext cx="301752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/>
            <a:r>
              <a:rPr sz="1050" b="1" dirty="0">
                <a:solidFill>
                  <a:srgbClr val="F8FAFC"/>
                </a:solidFill>
                <a:latin typeface="Aptos"/>
              </a:rPr>
              <a:t>Data · ML · Backend · QA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43280"/>
            <a:ext cx="3068276" cy="250000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b="0" dirty="0">
                <a:solidFill>
                  <a:srgbClr val="E8EFF5"/>
                </a:solidFill>
                <a:latin typeface="Aptos"/>
              </a:rPr>
              <a:t> </a:t>
            </a:r>
            <a:r>
              <a:rPr sz="950" b="0" dirty="0">
                <a:solidFill>
                  <a:srgbClr val="E8EFF5"/>
                </a:solidFill>
                <a:latin typeface="Aptos"/>
              </a:rPr>
              <a:t>Load data cleaning &amp; EDA; FastAPI skeleton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b="0" dirty="0">
                <a:solidFill>
                  <a:srgbClr val="E8EFF5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E8EFF5"/>
                </a:solidFill>
                <a:latin typeface="Aptos"/>
              </a:rPr>
              <a:t>XGBoost</a:t>
            </a:r>
            <a:r>
              <a:rPr sz="950" b="0" dirty="0">
                <a:solidFill>
                  <a:srgbClr val="E8EFF5"/>
                </a:solidFill>
                <a:latin typeface="Aptos"/>
              </a:rPr>
              <a:t> model development; SARIMAX baseline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b="0" dirty="0">
                <a:solidFill>
                  <a:srgbClr val="E8EFF5"/>
                </a:solidFill>
                <a:latin typeface="Aptos"/>
              </a:rPr>
              <a:t> </a:t>
            </a:r>
            <a:r>
              <a:rPr sz="950" b="0" dirty="0">
                <a:solidFill>
                  <a:srgbClr val="E8EFF5"/>
                </a:solidFill>
                <a:latin typeface="Aptos"/>
              </a:rPr>
              <a:t>History API endpoints; dashboard UI layout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b="0" dirty="0">
                <a:solidFill>
                  <a:srgbClr val="E8EFF5"/>
                </a:solidFill>
                <a:latin typeface="Aptos"/>
              </a:rPr>
              <a:t> </a:t>
            </a:r>
            <a:r>
              <a:rPr sz="950" b="0" dirty="0">
                <a:solidFill>
                  <a:srgbClr val="E8EFF5"/>
                </a:solidFill>
                <a:latin typeface="Aptos"/>
              </a:rPr>
              <a:t>End-to-end integration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54480"/>
            <a:ext cx="3429000" cy="390276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30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1730512"/>
            <a:ext cx="30175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30B0C7"/>
                </a:solidFill>
                <a:latin typeface="Aptos"/>
              </a:rPr>
              <a:t>Amantha H. D. K. 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185512"/>
            <a:ext cx="301752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/>
            <a:r>
              <a:rPr sz="1050" b="1" dirty="0">
                <a:solidFill>
                  <a:srgbClr val="F8FAFC"/>
                </a:solidFill>
                <a:latin typeface="Aptos"/>
              </a:rPr>
              <a:t>Data · ML · Frontend · DevOps </a:t>
            </a:r>
            <a:r>
              <a:rPr lang="en-US" sz="1050" b="1" dirty="0">
                <a:solidFill>
                  <a:srgbClr val="F8FAFC"/>
                </a:solidFill>
                <a:latin typeface="Aptos"/>
              </a:rPr>
              <a:t> </a:t>
            </a:r>
            <a:endParaRPr sz="105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27448" y="2843280"/>
            <a:ext cx="3068276" cy="250000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b="0" dirty="0">
                <a:solidFill>
                  <a:srgbClr val="E8EFF5"/>
                </a:solidFill>
                <a:latin typeface="Aptos"/>
              </a:rPr>
              <a:t> </a:t>
            </a:r>
            <a:r>
              <a:rPr sz="950" b="0" dirty="0">
                <a:solidFill>
                  <a:srgbClr val="E8EFF5"/>
                </a:solidFill>
                <a:latin typeface="Aptos"/>
              </a:rPr>
              <a:t>Weather extraction; master dataset merge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b="0" dirty="0">
                <a:solidFill>
                  <a:srgbClr val="E8EFF5"/>
                </a:solidFill>
                <a:latin typeface="Aptos"/>
              </a:rPr>
              <a:t> </a:t>
            </a:r>
            <a:r>
              <a:rPr sz="950" b="0" dirty="0">
                <a:solidFill>
                  <a:srgbClr val="E8EFF5"/>
                </a:solidFill>
                <a:latin typeface="Aptos"/>
              </a:rPr>
              <a:t>Prophet model tuning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b="0" dirty="0">
                <a:solidFill>
                  <a:srgbClr val="E8EFF5"/>
                </a:solidFill>
                <a:latin typeface="Aptos"/>
              </a:rPr>
              <a:t> </a:t>
            </a:r>
            <a:r>
              <a:rPr sz="950" b="0" dirty="0">
                <a:solidFill>
                  <a:srgbClr val="E8EFF5"/>
                </a:solidFill>
                <a:latin typeface="Aptos"/>
              </a:rPr>
              <a:t>ML endpoints; forecast visualizers; UI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b="0" dirty="0">
                <a:solidFill>
                  <a:srgbClr val="E8EFF5"/>
                </a:solidFill>
                <a:latin typeface="Aptos"/>
              </a:rPr>
              <a:t> </a:t>
            </a:r>
            <a:r>
              <a:rPr sz="950" b="0" dirty="0">
                <a:solidFill>
                  <a:srgbClr val="E8EFF5"/>
                </a:solidFill>
                <a:latin typeface="Aptos"/>
              </a:rPr>
              <a:t>Docker multi-container setup; final 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3429000" cy="3902760"/>
          </a:xfrm>
          <a:prstGeom prst="roundRect">
            <a:avLst/>
          </a:prstGeom>
          <a:solidFill>
            <a:srgbClr val="102843"/>
          </a:solidFill>
          <a:ln w="12700">
            <a:solidFill>
              <a:srgbClr val="2B8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22208" y="1730512"/>
            <a:ext cx="30175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2B8F66"/>
                </a:solidFill>
                <a:latin typeface="Aptos"/>
              </a:rPr>
              <a:t>Angeesa R. P. 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185512"/>
            <a:ext cx="301752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algn="l"/>
            <a:r>
              <a:rPr sz="1050" b="1" dirty="0">
                <a:solidFill>
                  <a:srgbClr val="F8FAFC"/>
                </a:solidFill>
                <a:latin typeface="Aptos"/>
              </a:rPr>
              <a:t>DevOps · Data · Deep Learning · Backend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22208" y="2843280"/>
            <a:ext cx="3068276" cy="2500000"/>
          </a:xfrm>
          <a:prstGeom prst="rect">
            <a:avLst/>
          </a:prstGeom>
          <a:noFill/>
        </p:spPr>
        <p:txBody>
          <a:bodyPr wrap="square" lIns="36576" tIns="36576" rIns="36576" bIns="36576">
            <a:norm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b="0" dirty="0">
                <a:solidFill>
                  <a:srgbClr val="E8EFF5"/>
                </a:solidFill>
                <a:latin typeface="Aptos"/>
              </a:rPr>
              <a:t> </a:t>
            </a:r>
            <a:r>
              <a:rPr sz="950" b="0" dirty="0">
                <a:solidFill>
                  <a:srgbClr val="E8EFF5"/>
                </a:solidFill>
                <a:latin typeface="Aptos"/>
              </a:rPr>
              <a:t>Git branching strategy; holiday &amp; event data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b="0" dirty="0">
                <a:solidFill>
                  <a:srgbClr val="E8EFF5"/>
                </a:solidFill>
                <a:latin typeface="Aptos"/>
              </a:rPr>
              <a:t> </a:t>
            </a:r>
            <a:r>
              <a:rPr sz="950" b="0" dirty="0">
                <a:solidFill>
                  <a:srgbClr val="E8EFF5"/>
                </a:solidFill>
                <a:latin typeface="Aptos"/>
              </a:rPr>
              <a:t>GPU deep-learning model; CV framework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b="0" dirty="0">
                <a:solidFill>
                  <a:srgbClr val="E8EFF5"/>
                </a:solidFill>
                <a:latin typeface="Aptos"/>
              </a:rPr>
              <a:t> </a:t>
            </a:r>
            <a:r>
              <a:rPr sz="950" b="0" dirty="0">
                <a:solidFill>
                  <a:srgbClr val="E8EFF5"/>
                </a:solidFill>
                <a:latin typeface="Aptos"/>
              </a:rPr>
              <a:t>Async DL inference; input validation &amp; docs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50" b="0" dirty="0">
                <a:solidFill>
                  <a:srgbClr val="E8EFF5"/>
                </a:solidFill>
                <a:latin typeface="Aptos"/>
              </a:rPr>
              <a:t> </a:t>
            </a:r>
            <a:r>
              <a:rPr sz="950" b="0" dirty="0">
                <a:solidFill>
                  <a:srgbClr val="E8EFF5"/>
                </a:solidFill>
                <a:latin typeface="Aptos"/>
              </a:rPr>
              <a:t>Repo cleanup &amp; merge; Docker DL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411480" cy="20115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41148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30B0C7"/>
                </a:solidFill>
                <a:latin typeface="Aptos"/>
              </a:rPr>
              <a:t>SMART GRID FORECASTER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332720" cy="91440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"/>
              </a:rPr>
              <a:t>One pipeline.
Multiple forecasting perspectives.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9875520" cy="68580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E8EFF5"/>
                </a:solidFill>
                <a:latin typeface="Aptos"/>
              </a:rPr>
              <a:t>The project combines contextual features, time-aware validation and evidence-weighted ensembling to produce a practical 24-hour grid-load forecast.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663440"/>
            <a:ext cx="2148840" cy="310896"/>
          </a:xfrm>
          <a:prstGeom prst="roundRect">
            <a:avLst/>
          </a:prstGeom>
          <a:solidFill>
            <a:srgbClr val="1A5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695444"/>
            <a:ext cx="2057400" cy="219456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663440"/>
            <a:ext cx="2148840" cy="310896"/>
          </a:xfrm>
          <a:prstGeom prst="roundRect">
            <a:avLst/>
          </a:prstGeom>
          <a:solidFill>
            <a:srgbClr val="30B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4695444"/>
            <a:ext cx="2057400" cy="219456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VALIDATE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4663440"/>
            <a:ext cx="2148840" cy="310896"/>
          </a:xfrm>
          <a:prstGeom prst="roundRect">
            <a:avLst/>
          </a:prstGeom>
          <a:solidFill>
            <a:srgbClr val="2B8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4695444"/>
            <a:ext cx="2057400" cy="219456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ENSEMBLE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4663440"/>
            <a:ext cx="2148840" cy="310896"/>
          </a:xfrm>
          <a:prstGeom prst="roundRect">
            <a:avLst/>
          </a:prstGeom>
          <a:solidFill>
            <a:srgbClr val="E28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4695444"/>
            <a:ext cx="2057400" cy="219456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332720" cy="365760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6F8194"/>
                </a:solidFill>
                <a:latin typeface="Aptos"/>
              </a:rPr>
              <a:t>Final milestone: reproducible results, visual comparisons and a polished working demo.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none" lIns="36576" tIns="36576" rIns="36576" bIns="36576">
            <a:spAutoFit/>
          </a:bodyPr>
          <a:lstStyle/>
          <a:p>
            <a:pPr algn="r"/>
            <a:r>
              <a:rPr sz="900" b="1">
                <a:solidFill>
                  <a:srgbClr val="6F8194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1146</Words>
  <Application>Microsoft Office PowerPoint</Application>
  <PresentationFormat>Widescreen</PresentationFormat>
  <Paragraphs>223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2026-09-08T17:51:42Z</dcterms:modified>
  <cp:category/>
</cp:coreProperties>
</file>